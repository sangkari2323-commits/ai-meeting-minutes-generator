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mo" panose="020B0604020202020204" charset="0"/>
      <p:regular r:id="rId13"/>
    </p:embeddedFont>
    <p:embeddedFont>
      <p:font typeface="Arimo Bold" panose="020B0604020202020204" charset="0"/>
      <p:regular r:id="rId14"/>
    </p:embeddedFont>
    <p:embeddedFont>
      <p:font typeface="Barlow" panose="00000500000000000000" pitchFamily="2" charset="0"/>
      <p:regular r:id="rId15"/>
    </p:embeddedFont>
    <p:embeddedFont>
      <p:font typeface="Barlow Bold" panose="00000800000000000000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63191" cy="10295039"/>
            <a:chOff x="0" y="0"/>
            <a:chExt cx="9150922" cy="13726719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50858" cy="13726668"/>
            </a:xfrm>
            <a:custGeom>
              <a:avLst/>
              <a:gdLst/>
              <a:ahLst/>
              <a:cxnLst/>
              <a:rect l="l" t="t" r="r" b="b"/>
              <a:pathLst>
                <a:path w="9150858" h="1372666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-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944050" y="3516173"/>
            <a:ext cx="9276921" cy="1763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50"/>
              </a:lnSpc>
            </a:pPr>
            <a:r>
              <a:rPr lang="en-US" sz="5329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AI Meeting Minutes Generator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20000" y="5380893"/>
            <a:ext cx="9276921" cy="5300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401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Smart Meeting Assistant — Transforming Audio into Actionable Minutes</a:t>
            </a:r>
          </a:p>
          <a:p>
            <a:pPr algn="l">
              <a:lnSpc>
                <a:spcPts val="3833"/>
              </a:lnSpc>
            </a:pPr>
            <a:endParaRPr lang="en-US" sz="2401" dirty="0">
              <a:solidFill>
                <a:srgbClr val="E0E4E6"/>
              </a:solidFill>
              <a:latin typeface="Barlow"/>
              <a:ea typeface="Barlow"/>
              <a:cs typeface="Barlow"/>
              <a:sym typeface="Barlow"/>
            </a:endParaRPr>
          </a:p>
          <a:p>
            <a:pPr algn="l">
              <a:lnSpc>
                <a:spcPts val="3833"/>
              </a:lnSpc>
            </a:pPr>
            <a:r>
              <a:rPr lang="en-US" sz="2400" b="1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GROUP MEMBERS</a:t>
            </a:r>
            <a:endParaRPr lang="en-US" sz="2400" b="1" dirty="0">
              <a:solidFill>
                <a:schemeClr val="bg2"/>
              </a:solidFill>
              <a:latin typeface="Barlow"/>
              <a:ea typeface="Barlow"/>
              <a:cs typeface="Barlow"/>
              <a:sym typeface="Barlow"/>
            </a:endParaRPr>
          </a:p>
          <a:p>
            <a:pPr algn="l">
              <a:lnSpc>
                <a:spcPts val="3833"/>
              </a:lnSpc>
            </a:pPr>
            <a:endParaRPr lang="en-US" sz="2401" dirty="0">
              <a:solidFill>
                <a:srgbClr val="E0E4E6"/>
              </a:solidFill>
              <a:latin typeface="Barlow"/>
              <a:ea typeface="Barlow"/>
              <a:cs typeface="Barlow"/>
              <a:sym typeface="Barlow"/>
            </a:endParaRPr>
          </a:p>
          <a:p>
            <a:pPr algn="l">
              <a:lnSpc>
                <a:spcPts val="3833"/>
              </a:lnSpc>
            </a:pPr>
            <a:r>
              <a:rPr lang="en-US" sz="2401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Faiza  Malik 2507-1844</a:t>
            </a:r>
          </a:p>
          <a:p>
            <a:pPr algn="l">
              <a:lnSpc>
                <a:spcPts val="3833"/>
              </a:lnSpc>
            </a:pPr>
            <a:r>
              <a:rPr lang="en-US" sz="2401" dirty="0" err="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Sangkari</a:t>
            </a:r>
            <a:r>
              <a:rPr lang="en-US" sz="2401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 </a:t>
            </a:r>
            <a:r>
              <a:rPr lang="en-US" sz="2401" dirty="0" err="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Maniyarasu</a:t>
            </a:r>
            <a:r>
              <a:rPr lang="en-US" sz="2401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2503-0675</a:t>
            </a:r>
          </a:p>
          <a:p>
            <a:pPr algn="l">
              <a:lnSpc>
                <a:spcPts val="3833"/>
              </a:lnSpc>
            </a:pPr>
            <a:r>
              <a:rPr lang="en-US" sz="2401" dirty="0" err="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Ridhwan</a:t>
            </a:r>
            <a:r>
              <a:rPr lang="en-US" sz="2401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 </a:t>
            </a:r>
            <a:r>
              <a:rPr lang="en-US" sz="2401" dirty="0" err="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Mahamud</a:t>
            </a:r>
            <a:r>
              <a:rPr lang="en-US" sz="2401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401" dirty="0" err="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Arpon</a:t>
            </a:r>
            <a:r>
              <a:rPr lang="en-US" sz="2401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2507-1809</a:t>
            </a:r>
          </a:p>
          <a:p>
            <a:pPr algn="l">
              <a:lnSpc>
                <a:spcPts val="3833"/>
              </a:lnSpc>
            </a:pPr>
            <a:r>
              <a:rPr lang="en-US" sz="2401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Ahmed  </a:t>
            </a:r>
            <a:r>
              <a:rPr lang="en-US" sz="2401" dirty="0" err="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Estayak</a:t>
            </a:r>
            <a:r>
              <a:rPr lang="en-US" sz="2401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2507-1924</a:t>
            </a:r>
          </a:p>
          <a:p>
            <a:pPr algn="l">
              <a:lnSpc>
                <a:spcPts val="3833"/>
              </a:lnSpc>
            </a:pPr>
            <a:endParaRPr lang="en-US" sz="2401" dirty="0">
              <a:solidFill>
                <a:srgbClr val="E0E4E6"/>
              </a:solidFill>
              <a:latin typeface="Barlow"/>
              <a:ea typeface="Barlow"/>
              <a:cs typeface="Barlow"/>
              <a:sym typeface="Barlow"/>
            </a:endParaRPr>
          </a:p>
          <a:p>
            <a:pPr algn="l">
              <a:lnSpc>
                <a:spcPts val="3833"/>
              </a:lnSpc>
            </a:pPr>
            <a:endParaRPr lang="en-US" sz="2401" dirty="0">
              <a:solidFill>
                <a:srgbClr val="E0E4E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628307" y="9846183"/>
            <a:ext cx="1609020" cy="384353"/>
            <a:chOff x="0" y="0"/>
            <a:chExt cx="2145360" cy="51247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145411" cy="512445"/>
            </a:xfrm>
            <a:custGeom>
              <a:avLst/>
              <a:gdLst/>
              <a:ahLst/>
              <a:cxnLst/>
              <a:rect l="l" t="t" r="r" b="b"/>
              <a:pathLst>
                <a:path w="2145411" h="512445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2" b="-4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8649" y="0"/>
            <a:ext cx="6863191" cy="10295039"/>
            <a:chOff x="0" y="0"/>
            <a:chExt cx="9150922" cy="13726719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50858" cy="13726668"/>
            </a:xfrm>
            <a:custGeom>
              <a:avLst/>
              <a:gdLst/>
              <a:ahLst/>
              <a:cxnLst/>
              <a:rect l="l" t="t" r="r" b="b"/>
              <a:pathLst>
                <a:path w="9150858" h="1372666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r="-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80859" y="1484719"/>
            <a:ext cx="9276921" cy="905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50"/>
              </a:lnSpc>
            </a:pPr>
            <a:r>
              <a:rPr lang="en-US" sz="5329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The Problem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61799" y="2834411"/>
            <a:ext cx="4522137" cy="3332483"/>
            <a:chOff x="0" y="0"/>
            <a:chExt cx="6029516" cy="444331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029579" cy="4443349"/>
            </a:xfrm>
            <a:custGeom>
              <a:avLst/>
              <a:gdLst/>
              <a:ahLst/>
              <a:cxnLst/>
              <a:rect l="l" t="t" r="r" b="b"/>
              <a:pathLst>
                <a:path w="6029579" h="4443349">
                  <a:moveTo>
                    <a:pt x="0" y="624840"/>
                  </a:moveTo>
                  <a:cubicBezTo>
                    <a:pt x="0" y="279781"/>
                    <a:pt x="279781" y="0"/>
                    <a:pt x="624840" y="0"/>
                  </a:cubicBezTo>
                  <a:lnTo>
                    <a:pt x="5404739" y="0"/>
                  </a:lnTo>
                  <a:cubicBezTo>
                    <a:pt x="5749798" y="0"/>
                    <a:pt x="6029579" y="279781"/>
                    <a:pt x="6029579" y="624840"/>
                  </a:cubicBezTo>
                  <a:lnTo>
                    <a:pt x="6029579" y="3818509"/>
                  </a:lnTo>
                  <a:cubicBezTo>
                    <a:pt x="6029579" y="4163568"/>
                    <a:pt x="5749798" y="4443349"/>
                    <a:pt x="5404739" y="4443349"/>
                  </a:cubicBezTo>
                  <a:lnTo>
                    <a:pt x="624840" y="4443349"/>
                  </a:lnTo>
                  <a:cubicBezTo>
                    <a:pt x="279781" y="4443349"/>
                    <a:pt x="0" y="4163568"/>
                    <a:pt x="0" y="3818509"/>
                  </a:cubicBezTo>
                  <a:close/>
                </a:path>
              </a:pathLst>
            </a:custGeom>
            <a:solidFill>
              <a:srgbClr val="0A081B"/>
            </a:solidFill>
            <a:ln w="38128" cap="sq">
              <a:solidFill>
                <a:srgbClr val="16FFBB"/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27750" y="3171796"/>
            <a:ext cx="3790245" cy="467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⏱</a:t>
            </a:r>
            <a:r>
              <a:rPr lang="en-US" sz="2627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 Time-Consuming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27750" y="3728895"/>
            <a:ext cx="3790245" cy="2072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40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Participants spend significant time manually replaying recordings and transcribing content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854560" y="2834411"/>
            <a:ext cx="4522289" cy="3332483"/>
            <a:chOff x="0" y="0"/>
            <a:chExt cx="6029719" cy="444331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029706" cy="4443349"/>
            </a:xfrm>
            <a:custGeom>
              <a:avLst/>
              <a:gdLst/>
              <a:ahLst/>
              <a:cxnLst/>
              <a:rect l="l" t="t" r="r" b="b"/>
              <a:pathLst>
                <a:path w="6029706" h="4443349">
                  <a:moveTo>
                    <a:pt x="0" y="624840"/>
                  </a:moveTo>
                  <a:cubicBezTo>
                    <a:pt x="0" y="279781"/>
                    <a:pt x="279781" y="0"/>
                    <a:pt x="624840" y="0"/>
                  </a:cubicBezTo>
                  <a:lnTo>
                    <a:pt x="5404866" y="0"/>
                  </a:lnTo>
                  <a:cubicBezTo>
                    <a:pt x="5749925" y="0"/>
                    <a:pt x="6029706" y="279781"/>
                    <a:pt x="6029706" y="624840"/>
                  </a:cubicBezTo>
                  <a:lnTo>
                    <a:pt x="6029706" y="3818509"/>
                  </a:lnTo>
                  <a:cubicBezTo>
                    <a:pt x="6029706" y="4163568"/>
                    <a:pt x="5749925" y="4443349"/>
                    <a:pt x="5404866" y="4443349"/>
                  </a:cubicBezTo>
                  <a:lnTo>
                    <a:pt x="624840" y="4443349"/>
                  </a:lnTo>
                  <a:cubicBezTo>
                    <a:pt x="279781" y="4443349"/>
                    <a:pt x="0" y="4163568"/>
                    <a:pt x="0" y="3818509"/>
                  </a:cubicBezTo>
                  <a:close/>
                </a:path>
              </a:pathLst>
            </a:custGeom>
            <a:solidFill>
              <a:srgbClr val="0A081B"/>
            </a:solidFill>
            <a:ln w="38128" cap="sq">
              <a:solidFill>
                <a:srgbClr val="29DDDA"/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220511" y="3171796"/>
            <a:ext cx="3790398" cy="467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⚠️</a:t>
            </a:r>
            <a:r>
              <a:rPr lang="en-US" sz="2627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 Inconsistent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20511" y="3728895"/>
            <a:ext cx="3790398" cy="157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40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Manual formatting leads to uneven, unreliable meeting minutes across the team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61799" y="6437528"/>
            <a:ext cx="9315050" cy="2344083"/>
            <a:chOff x="0" y="0"/>
            <a:chExt cx="12420067" cy="312544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420092" cy="3125470"/>
            </a:xfrm>
            <a:custGeom>
              <a:avLst/>
              <a:gdLst/>
              <a:ahLst/>
              <a:cxnLst/>
              <a:rect l="l" t="t" r="r" b="b"/>
              <a:pathLst>
                <a:path w="12420092" h="3125470">
                  <a:moveTo>
                    <a:pt x="0" y="627888"/>
                  </a:moveTo>
                  <a:cubicBezTo>
                    <a:pt x="0" y="281178"/>
                    <a:pt x="281178" y="0"/>
                    <a:pt x="627888" y="0"/>
                  </a:cubicBezTo>
                  <a:lnTo>
                    <a:pt x="11792204" y="0"/>
                  </a:lnTo>
                  <a:cubicBezTo>
                    <a:pt x="12139041" y="0"/>
                    <a:pt x="12420092" y="281178"/>
                    <a:pt x="12420092" y="627888"/>
                  </a:cubicBezTo>
                  <a:lnTo>
                    <a:pt x="12420092" y="2497582"/>
                  </a:lnTo>
                  <a:cubicBezTo>
                    <a:pt x="12420092" y="2844419"/>
                    <a:pt x="12138914" y="3125470"/>
                    <a:pt x="11792204" y="3125470"/>
                  </a:cubicBezTo>
                  <a:lnTo>
                    <a:pt x="627888" y="3125470"/>
                  </a:lnTo>
                  <a:cubicBezTo>
                    <a:pt x="281178" y="3125470"/>
                    <a:pt x="0" y="2844292"/>
                    <a:pt x="0" y="2497582"/>
                  </a:cubicBezTo>
                  <a:close/>
                </a:path>
              </a:pathLst>
            </a:custGeom>
            <a:solidFill>
              <a:srgbClr val="0A081B"/>
            </a:solidFill>
            <a:ln w="38128" cap="sq">
              <a:solidFill>
                <a:srgbClr val="37A7E7"/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427750" y="6774913"/>
            <a:ext cx="8583158" cy="467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❌</a:t>
            </a:r>
            <a:r>
              <a:rPr lang="en-US" sz="2627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 Missed Items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27750" y="7332012"/>
            <a:ext cx="8583158" cy="108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40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Critical action items and decisions get overlooked in the manual process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80859" y="831590"/>
            <a:ext cx="16140112" cy="798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7"/>
              </a:lnSpc>
            </a:pPr>
            <a:r>
              <a:rPr lang="en-US" sz="4653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Our Solution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80859" y="2250548"/>
            <a:ext cx="10260235" cy="5814193"/>
            <a:chOff x="0" y="0"/>
            <a:chExt cx="13680313" cy="7752258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3680312" cy="7752207"/>
            </a:xfrm>
            <a:custGeom>
              <a:avLst/>
              <a:gdLst/>
              <a:ahLst/>
              <a:cxnLst/>
              <a:rect l="l" t="t" r="r" b="b"/>
              <a:pathLst>
                <a:path w="13680312" h="7752207">
                  <a:moveTo>
                    <a:pt x="0" y="0"/>
                  </a:moveTo>
                  <a:lnTo>
                    <a:pt x="13680312" y="0"/>
                  </a:lnTo>
                  <a:lnTo>
                    <a:pt x="13680312" y="7752207"/>
                  </a:lnTo>
                  <a:lnTo>
                    <a:pt x="0" y="7752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" r="-25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009834" y="4024503"/>
            <a:ext cx="5220519" cy="403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One Automated Pipeline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09834" y="4607643"/>
            <a:ext cx="5220519" cy="1678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210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The AI Meeting Minutes Generator combines </a:t>
            </a:r>
            <a:r>
              <a:rPr lang="en-US" sz="2101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Speech-to-Text</a:t>
            </a:r>
            <a:r>
              <a:rPr lang="en-US" sz="210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with AI text generation to transform raw audio into polished, structured meeting minutes — automatically.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1182148" y="8605123"/>
            <a:ext cx="405270" cy="405279"/>
          </a:xfrm>
          <a:custGeom>
            <a:avLst/>
            <a:gdLst/>
            <a:ahLst/>
            <a:cxnLst/>
            <a:rect l="l" t="t" r="r" b="b"/>
            <a:pathLst>
              <a:path w="405270" h="405279">
                <a:moveTo>
                  <a:pt x="0" y="0"/>
                </a:moveTo>
                <a:lnTo>
                  <a:pt x="405269" y="0"/>
                </a:lnTo>
                <a:lnTo>
                  <a:pt x="405269" y="405279"/>
                </a:lnTo>
                <a:lnTo>
                  <a:pt x="0" y="4052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141" r="-8139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2" name="TextBox 12"/>
          <p:cNvSpPr txBox="1"/>
          <p:nvPr/>
        </p:nvSpPr>
        <p:spPr>
          <a:xfrm>
            <a:off x="1959016" y="8568204"/>
            <a:ext cx="4304833" cy="403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Upload audio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6660632" y="8605123"/>
            <a:ext cx="405270" cy="405279"/>
          </a:xfrm>
          <a:custGeom>
            <a:avLst/>
            <a:gdLst/>
            <a:ahLst/>
            <a:cxnLst/>
            <a:rect l="l" t="t" r="r" b="b"/>
            <a:pathLst>
              <a:path w="405270" h="405279">
                <a:moveTo>
                  <a:pt x="0" y="0"/>
                </a:moveTo>
                <a:lnTo>
                  <a:pt x="405270" y="0"/>
                </a:lnTo>
                <a:lnTo>
                  <a:pt x="405270" y="405279"/>
                </a:lnTo>
                <a:lnTo>
                  <a:pt x="0" y="4052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141" r="-8139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4" name="TextBox 14"/>
          <p:cNvSpPr txBox="1"/>
          <p:nvPr/>
        </p:nvSpPr>
        <p:spPr>
          <a:xfrm>
            <a:off x="7437511" y="8568204"/>
            <a:ext cx="4304833" cy="403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Generate transcript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12139117" y="8605123"/>
            <a:ext cx="405270" cy="405279"/>
          </a:xfrm>
          <a:custGeom>
            <a:avLst/>
            <a:gdLst/>
            <a:ahLst/>
            <a:cxnLst/>
            <a:rect l="l" t="t" r="r" b="b"/>
            <a:pathLst>
              <a:path w="405270" h="405279">
                <a:moveTo>
                  <a:pt x="0" y="0"/>
                </a:moveTo>
                <a:lnTo>
                  <a:pt x="405270" y="0"/>
                </a:lnTo>
                <a:lnTo>
                  <a:pt x="405270" y="405279"/>
                </a:lnTo>
                <a:lnTo>
                  <a:pt x="0" y="4052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141" r="-8139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6" name="TextBox 16"/>
          <p:cNvSpPr txBox="1"/>
          <p:nvPr/>
        </p:nvSpPr>
        <p:spPr>
          <a:xfrm>
            <a:off x="12915995" y="8568204"/>
            <a:ext cx="4304986" cy="403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Get structured minutes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80859" y="820703"/>
            <a:ext cx="16140112" cy="457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How It Works: The Pipeline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951272" y="1432550"/>
            <a:ext cx="14399295" cy="7868583"/>
            <a:chOff x="0" y="0"/>
            <a:chExt cx="19199060" cy="10491445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9199098" cy="10491470"/>
            </a:xfrm>
            <a:custGeom>
              <a:avLst/>
              <a:gdLst/>
              <a:ahLst/>
              <a:cxnLst/>
              <a:rect l="l" t="t" r="r" b="b"/>
              <a:pathLst>
                <a:path w="19199098" h="10491470">
                  <a:moveTo>
                    <a:pt x="0" y="0"/>
                  </a:moveTo>
                  <a:lnTo>
                    <a:pt x="19199098" y="0"/>
                  </a:lnTo>
                  <a:lnTo>
                    <a:pt x="19199098" y="10491470"/>
                  </a:lnTo>
                  <a:lnTo>
                    <a:pt x="0" y="10491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8" b="-18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904250" y="5125622"/>
            <a:ext cx="3228013" cy="422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1"/>
              </a:lnSpc>
            </a:pPr>
            <a:r>
              <a:rPr lang="en-US" sz="2476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Upload Audio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29350" y="5074425"/>
            <a:ext cx="3228003" cy="422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1"/>
              </a:lnSpc>
            </a:pPr>
            <a:r>
              <a:rPr lang="en-US" sz="2476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Transcribe Audio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08845" y="5090817"/>
            <a:ext cx="3237338" cy="422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1"/>
              </a:lnSpc>
            </a:pPr>
            <a:r>
              <a:rPr lang="en-US" sz="2476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Summarize &amp; Actions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80859" y="9387973"/>
            <a:ext cx="17055208" cy="18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Each stage is automated — no manual intervention required between steps.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80859" y="2487406"/>
            <a:ext cx="16140112" cy="905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50"/>
              </a:lnSpc>
            </a:pPr>
            <a:r>
              <a:rPr lang="en-US" sz="5329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Key Features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1080859" y="4010625"/>
            <a:ext cx="772106" cy="772125"/>
          </a:xfrm>
          <a:custGeom>
            <a:avLst/>
            <a:gdLst/>
            <a:ahLst/>
            <a:cxnLst/>
            <a:rect l="l" t="t" r="r" b="b"/>
            <a:pathLst>
              <a:path w="772106" h="772125">
                <a:moveTo>
                  <a:pt x="0" y="0"/>
                </a:moveTo>
                <a:lnTo>
                  <a:pt x="772106" y="0"/>
                </a:lnTo>
                <a:lnTo>
                  <a:pt x="772106" y="772125"/>
                </a:lnTo>
                <a:lnTo>
                  <a:pt x="0" y="7721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9754" b="-9755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TextBox 8"/>
          <p:cNvSpPr txBox="1"/>
          <p:nvPr/>
        </p:nvSpPr>
        <p:spPr>
          <a:xfrm>
            <a:off x="1080859" y="5140242"/>
            <a:ext cx="5122669" cy="457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Meeting Summary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0859" y="5687816"/>
            <a:ext cx="5122669" cy="2072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40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Concise AI-generated overview capturing the key discussion points, decisions made, and conclusions reached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6589586" y="4010625"/>
            <a:ext cx="772106" cy="772125"/>
          </a:xfrm>
          <a:custGeom>
            <a:avLst/>
            <a:gdLst/>
            <a:ahLst/>
            <a:cxnLst/>
            <a:rect l="l" t="t" r="r" b="b"/>
            <a:pathLst>
              <a:path w="772106" h="772125">
                <a:moveTo>
                  <a:pt x="0" y="0"/>
                </a:moveTo>
                <a:lnTo>
                  <a:pt x="772106" y="0"/>
                </a:lnTo>
                <a:lnTo>
                  <a:pt x="772106" y="772125"/>
                </a:lnTo>
                <a:lnTo>
                  <a:pt x="0" y="7721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3413" b="-13413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1" name="TextBox 11"/>
          <p:cNvSpPr txBox="1"/>
          <p:nvPr/>
        </p:nvSpPr>
        <p:spPr>
          <a:xfrm>
            <a:off x="6589586" y="5140242"/>
            <a:ext cx="5122669" cy="457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Action Items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89586" y="5687816"/>
            <a:ext cx="5122669" cy="1417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401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Automatically extracted follow-up tasks,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bg2"/>
                </a:solidFill>
              </a:rPr>
              <a:t>with the responsible person and deadline when explicitly mentioned.</a:t>
            </a:r>
            <a:endParaRPr lang="en-US" sz="2401" dirty="0">
              <a:solidFill>
                <a:schemeClr val="bg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" name="Freeform 13" descr="preencoded.png"/>
          <p:cNvSpPr/>
          <p:nvPr/>
        </p:nvSpPr>
        <p:spPr>
          <a:xfrm>
            <a:off x="12098312" y="4010625"/>
            <a:ext cx="772106" cy="772125"/>
          </a:xfrm>
          <a:custGeom>
            <a:avLst/>
            <a:gdLst/>
            <a:ahLst/>
            <a:cxnLst/>
            <a:rect l="l" t="t" r="r" b="b"/>
            <a:pathLst>
              <a:path w="772106" h="772125">
                <a:moveTo>
                  <a:pt x="0" y="0"/>
                </a:moveTo>
                <a:lnTo>
                  <a:pt x="772106" y="0"/>
                </a:lnTo>
                <a:lnTo>
                  <a:pt x="772106" y="772125"/>
                </a:lnTo>
                <a:lnTo>
                  <a:pt x="0" y="7721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4269" r="-4269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4" name="TextBox 14"/>
          <p:cNvSpPr txBox="1"/>
          <p:nvPr/>
        </p:nvSpPr>
        <p:spPr>
          <a:xfrm>
            <a:off x="12098312" y="5140242"/>
            <a:ext cx="5122669" cy="457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Key Discussion Points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98312" y="5687816"/>
            <a:ext cx="5122669" cy="157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40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Important topics and themes surfaced from the meeting, organized for quick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80859" y="1237021"/>
            <a:ext cx="16140112" cy="905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50"/>
              </a:lnSpc>
            </a:pPr>
            <a:r>
              <a:rPr lang="en-US" sz="5329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Demo: Upload Screen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81764" y="2885970"/>
            <a:ext cx="6848589" cy="457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Simple &amp; Intuitive Interface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81764" y="3557016"/>
            <a:ext cx="6848589" cy="929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401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The web interface is designed for ease of use — </a:t>
            </a:r>
            <a:r>
              <a:rPr lang="en-US" sz="2400" dirty="0">
                <a:solidFill>
                  <a:schemeClr val="bg2"/>
                </a:solidFill>
              </a:rPr>
              <a:t>The web interface is designed for ease of use.</a:t>
            </a:r>
            <a:endParaRPr lang="en-US" sz="2401" dirty="0">
              <a:solidFill>
                <a:schemeClr val="bg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381764" y="4823346"/>
            <a:ext cx="6848589" cy="1793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5018" lvl="1" indent="-217509" algn="l">
              <a:lnSpc>
                <a:spcPts val="3833"/>
              </a:lnSpc>
              <a:buFont typeface="Arial"/>
              <a:buChar char="•"/>
            </a:pPr>
            <a:r>
              <a:rPr lang="en-US" sz="240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Drag-and-drop or browse to upload audio</a:t>
            </a:r>
          </a:p>
          <a:p>
            <a:pPr marL="435018" lvl="1" indent="-217509" algn="l">
              <a:lnSpc>
                <a:spcPts val="3833"/>
              </a:lnSpc>
              <a:buFont typeface="Arial"/>
              <a:buChar char="•"/>
            </a:pPr>
            <a:r>
              <a:rPr lang="en-US" sz="240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Supports common meeting audio formats</a:t>
            </a:r>
          </a:p>
          <a:p>
            <a:pPr marL="435018" lvl="1" indent="-217509" algn="l">
              <a:lnSpc>
                <a:spcPts val="3833"/>
              </a:lnSpc>
              <a:buFont typeface="Arial"/>
              <a:buChar char="•"/>
            </a:pPr>
            <a:r>
              <a:rPr lang="en-US" sz="240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One-click processing to launch the full pipeline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381764" y="6964499"/>
            <a:ext cx="6848589" cy="1698565"/>
            <a:chOff x="0" y="0"/>
            <a:chExt cx="9131452" cy="226475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131554" cy="2264791"/>
            </a:xfrm>
            <a:custGeom>
              <a:avLst/>
              <a:gdLst/>
              <a:ahLst/>
              <a:cxnLst/>
              <a:rect l="l" t="t" r="r" b="b"/>
              <a:pathLst>
                <a:path w="9131554" h="2264791">
                  <a:moveTo>
                    <a:pt x="0" y="617728"/>
                  </a:moveTo>
                  <a:cubicBezTo>
                    <a:pt x="0" y="276606"/>
                    <a:pt x="276606" y="0"/>
                    <a:pt x="617728" y="0"/>
                  </a:cubicBezTo>
                  <a:lnTo>
                    <a:pt x="8513826" y="0"/>
                  </a:lnTo>
                  <a:cubicBezTo>
                    <a:pt x="8854948" y="0"/>
                    <a:pt x="9131554" y="276606"/>
                    <a:pt x="9131554" y="617728"/>
                  </a:cubicBezTo>
                  <a:lnTo>
                    <a:pt x="9131554" y="1647063"/>
                  </a:lnTo>
                  <a:cubicBezTo>
                    <a:pt x="9131554" y="1988185"/>
                    <a:pt x="8854948" y="2264791"/>
                    <a:pt x="8513826" y="2264791"/>
                  </a:cubicBezTo>
                  <a:lnTo>
                    <a:pt x="617728" y="2264791"/>
                  </a:lnTo>
                  <a:cubicBezTo>
                    <a:pt x="276606" y="2264791"/>
                    <a:pt x="0" y="1988185"/>
                    <a:pt x="0" y="1647063"/>
                  </a:cubicBezTo>
                  <a:close/>
                </a:path>
              </a:pathLst>
            </a:custGeom>
            <a:solidFill>
              <a:srgbClr val="00805A"/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690517" y="7442464"/>
            <a:ext cx="386058" cy="308762"/>
            <a:chOff x="0" y="0"/>
            <a:chExt cx="514744" cy="411683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514731" cy="411734"/>
            </a:xfrm>
            <a:custGeom>
              <a:avLst/>
              <a:gdLst/>
              <a:ahLst/>
              <a:cxnLst/>
              <a:rect l="l" t="t" r="r" b="b"/>
              <a:pathLst>
                <a:path w="514731" h="411734">
                  <a:moveTo>
                    <a:pt x="0" y="0"/>
                  </a:moveTo>
                  <a:lnTo>
                    <a:pt x="514731" y="0"/>
                  </a:lnTo>
                  <a:lnTo>
                    <a:pt x="514731" y="411734"/>
                  </a:lnTo>
                  <a:lnTo>
                    <a:pt x="0" y="411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17" r="-2" b="-305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385328" y="7224332"/>
            <a:ext cx="5536273" cy="108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40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Designed so any teammate can use it without a tutorial.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21D78C4-1A9E-CC57-00AA-13F407FA62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646" y="3418432"/>
            <a:ext cx="7781553" cy="43328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80859" y="1638281"/>
            <a:ext cx="16140112" cy="905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50"/>
              </a:lnSpc>
            </a:pPr>
            <a:r>
              <a:rPr lang="en-US" sz="5329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Demo: Generated Transcript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0859" y="3287230"/>
            <a:ext cx="6848589" cy="457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Full Speech-to-Text Output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80859" y="3958276"/>
            <a:ext cx="6848589" cy="1888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400" dirty="0">
                <a:solidFill>
                  <a:schemeClr val="bg2"/>
                </a:solidFill>
              </a:rPr>
              <a:t>The meeting audio is converted into a readable text transcript.</a:t>
            </a:r>
            <a:r>
              <a:rPr lang="en-US" sz="2401" dirty="0">
                <a:solidFill>
                  <a:schemeClr val="bg2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401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and displayed in a clean, readable format — fully searchable and ready for downstream analysis.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0859" y="5718800"/>
            <a:ext cx="6848589" cy="1888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5018" lvl="1" indent="-217509" algn="l">
              <a:lnSpc>
                <a:spcPts val="3833"/>
              </a:lnSpc>
              <a:buFont typeface="Arial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Generated transcript displayed on screen</a:t>
            </a:r>
            <a:r>
              <a:rPr lang="en-US" sz="2400" dirty="0"/>
              <a:t>.</a:t>
            </a:r>
            <a:endParaRPr lang="en-US" sz="2401" dirty="0">
              <a:solidFill>
                <a:srgbClr val="E0E4E6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435018" lvl="1" indent="-217509" algn="l">
              <a:lnSpc>
                <a:spcPts val="3833"/>
              </a:lnSpc>
              <a:buFont typeface="Arial"/>
              <a:buChar char="•"/>
            </a:pPr>
            <a:r>
              <a:rPr lang="en-US" sz="2401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Readable and easily scannable</a:t>
            </a:r>
          </a:p>
          <a:p>
            <a:pPr marL="435018" lvl="1" indent="-217509" algn="l">
              <a:lnSpc>
                <a:spcPts val="3833"/>
              </a:lnSpc>
              <a:buFont typeface="Arial"/>
              <a:buChar char="•"/>
            </a:pPr>
            <a:r>
              <a:rPr lang="en-US" sz="2401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Foundation for summary and action item extraction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8EFEE6-A42C-45B5-802B-3C5AD35D1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9939" y="3276169"/>
            <a:ext cx="7597201" cy="47629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80859" y="2220649"/>
            <a:ext cx="16140112" cy="905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50"/>
              </a:lnSpc>
            </a:pPr>
            <a:r>
              <a:rPr lang="en-US" sz="5329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Demo: Meeting Summary &amp; Action Items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1080859" y="3743868"/>
            <a:ext cx="5174199" cy="4282754"/>
          </a:xfrm>
          <a:custGeom>
            <a:avLst/>
            <a:gdLst/>
            <a:ahLst/>
            <a:cxnLst/>
            <a:rect l="l" t="t" r="r" b="b"/>
            <a:pathLst>
              <a:path w="5174199" h="4282754">
                <a:moveTo>
                  <a:pt x="0" y="0"/>
                </a:moveTo>
                <a:lnTo>
                  <a:pt x="5174199" y="0"/>
                </a:lnTo>
                <a:lnTo>
                  <a:pt x="5174199" y="4282754"/>
                </a:lnTo>
                <a:lnTo>
                  <a:pt x="0" y="42827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80" b="-80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TextBox 8"/>
          <p:cNvSpPr txBox="1"/>
          <p:nvPr/>
        </p:nvSpPr>
        <p:spPr>
          <a:xfrm>
            <a:off x="1580264" y="4062184"/>
            <a:ext cx="4327922" cy="467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📝</a:t>
            </a:r>
            <a:r>
              <a:rPr lang="en-US" sz="2627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 AI-Generated Summary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80264" y="4619292"/>
            <a:ext cx="4327922" cy="1401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401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 concise overview of meeting content — highlights decisions made and conclusions reached</a:t>
            </a:r>
            <a:r>
              <a:rPr lang="en-US" sz="240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. </a:t>
            </a:r>
            <a:endParaRPr lang="en-US" sz="2401" dirty="0">
              <a:solidFill>
                <a:srgbClr val="E0E4E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" name="Freeform 10" descr="preencoded.png"/>
          <p:cNvSpPr/>
          <p:nvPr/>
        </p:nvSpPr>
        <p:spPr>
          <a:xfrm>
            <a:off x="6563820" y="3743868"/>
            <a:ext cx="5174199" cy="4282754"/>
          </a:xfrm>
          <a:custGeom>
            <a:avLst/>
            <a:gdLst/>
            <a:ahLst/>
            <a:cxnLst/>
            <a:rect l="l" t="t" r="r" b="b"/>
            <a:pathLst>
              <a:path w="5174199" h="4282754">
                <a:moveTo>
                  <a:pt x="0" y="0"/>
                </a:moveTo>
                <a:lnTo>
                  <a:pt x="5174199" y="0"/>
                </a:lnTo>
                <a:lnTo>
                  <a:pt x="5174199" y="4282754"/>
                </a:lnTo>
                <a:lnTo>
                  <a:pt x="0" y="42827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80" b="-80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1" name="TextBox 11"/>
          <p:cNvSpPr txBox="1"/>
          <p:nvPr/>
        </p:nvSpPr>
        <p:spPr>
          <a:xfrm>
            <a:off x="7063216" y="4062184"/>
            <a:ext cx="4327922" cy="467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✅</a:t>
            </a:r>
            <a:r>
              <a:rPr lang="en-US" sz="2627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 Action Items Extracted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63216" y="4619292"/>
            <a:ext cx="4327922" cy="256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40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Follow-up tasks identified directly from the conversation, with </a:t>
            </a:r>
            <a:r>
              <a:rPr lang="en-US" sz="2401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assigned person</a:t>
            </a:r>
            <a:r>
              <a:rPr lang="en-US" sz="240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and </a:t>
            </a:r>
            <a:r>
              <a:rPr lang="en-US" sz="2401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deadline</a:t>
            </a:r>
            <a:r>
              <a:rPr lang="en-US" sz="240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pulled when explicitly mentioned in the recording.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2046772" y="3743868"/>
            <a:ext cx="5174199" cy="4282754"/>
          </a:xfrm>
          <a:custGeom>
            <a:avLst/>
            <a:gdLst/>
            <a:ahLst/>
            <a:cxnLst/>
            <a:rect l="l" t="t" r="r" b="b"/>
            <a:pathLst>
              <a:path w="5174199" h="4282754">
                <a:moveTo>
                  <a:pt x="0" y="0"/>
                </a:moveTo>
                <a:lnTo>
                  <a:pt x="5174199" y="0"/>
                </a:lnTo>
                <a:lnTo>
                  <a:pt x="5174199" y="4282754"/>
                </a:lnTo>
                <a:lnTo>
                  <a:pt x="0" y="42827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80" b="-80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4" name="TextBox 14"/>
          <p:cNvSpPr txBox="1"/>
          <p:nvPr/>
        </p:nvSpPr>
        <p:spPr>
          <a:xfrm>
            <a:off x="12546178" y="4062184"/>
            <a:ext cx="4327922" cy="467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💬</a:t>
            </a:r>
            <a:r>
              <a:rPr lang="en-US" sz="2627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 Key Discussion Points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46178" y="4619292"/>
            <a:ext cx="4327922" cy="256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40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Important topics surfaced and organized, giving anyone who missed the meeting an instant understanding of what was covered.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628307" y="9846183"/>
            <a:ext cx="1609020" cy="384353"/>
            <a:chOff x="0" y="0"/>
            <a:chExt cx="2145360" cy="51247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145411" cy="512445"/>
            </a:xfrm>
            <a:custGeom>
              <a:avLst/>
              <a:gdLst/>
              <a:ahLst/>
              <a:cxnLst/>
              <a:rect l="l" t="t" r="r" b="b"/>
              <a:pathLst>
                <a:path w="2145411" h="512445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2" b="-4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8649" y="0"/>
            <a:ext cx="6863191" cy="10295039"/>
            <a:chOff x="0" y="0"/>
            <a:chExt cx="9150922" cy="13726719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50858" cy="13726668"/>
            </a:xfrm>
            <a:custGeom>
              <a:avLst/>
              <a:gdLst/>
              <a:ahLst/>
              <a:cxnLst/>
              <a:rect l="l" t="t" r="r" b="b"/>
              <a:pathLst>
                <a:path w="9150858" h="1372666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r="-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80859" y="1764430"/>
            <a:ext cx="9276921" cy="8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50"/>
              </a:lnSpc>
            </a:pPr>
            <a:r>
              <a:rPr lang="en-US" sz="5400" dirty="0">
                <a:solidFill>
                  <a:schemeClr val="bg2"/>
                </a:solidFill>
              </a:rPr>
              <a:t>Results &amp; Prototype Testing</a:t>
            </a:r>
            <a:endParaRPr lang="en-US" sz="5329" b="1" dirty="0">
              <a:solidFill>
                <a:schemeClr val="bg2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061799" y="3114132"/>
            <a:ext cx="4522137" cy="3267246"/>
            <a:chOff x="0" y="0"/>
            <a:chExt cx="6029516" cy="43563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029452" cy="4356354"/>
            </a:xfrm>
            <a:custGeom>
              <a:avLst/>
              <a:gdLst/>
              <a:ahLst/>
              <a:cxnLst/>
              <a:rect l="l" t="t" r="r" b="b"/>
              <a:pathLst>
                <a:path w="6029452" h="4356354">
                  <a:moveTo>
                    <a:pt x="0" y="624967"/>
                  </a:moveTo>
                  <a:cubicBezTo>
                    <a:pt x="0" y="279781"/>
                    <a:pt x="279781" y="0"/>
                    <a:pt x="624967" y="0"/>
                  </a:cubicBezTo>
                  <a:lnTo>
                    <a:pt x="5404485" y="0"/>
                  </a:lnTo>
                  <a:cubicBezTo>
                    <a:pt x="5749671" y="0"/>
                    <a:pt x="6029452" y="279781"/>
                    <a:pt x="6029452" y="624967"/>
                  </a:cubicBezTo>
                  <a:lnTo>
                    <a:pt x="6029452" y="3731387"/>
                  </a:lnTo>
                  <a:cubicBezTo>
                    <a:pt x="6029452" y="4076573"/>
                    <a:pt x="5749671" y="4356354"/>
                    <a:pt x="5404485" y="4356354"/>
                  </a:cubicBezTo>
                  <a:lnTo>
                    <a:pt x="624967" y="4356354"/>
                  </a:lnTo>
                  <a:cubicBezTo>
                    <a:pt x="279781" y="4356354"/>
                    <a:pt x="0" y="4076446"/>
                    <a:pt x="0" y="3731387"/>
                  </a:cubicBezTo>
                  <a:close/>
                </a:path>
              </a:pathLst>
            </a:custGeom>
            <a:solidFill>
              <a:srgbClr val="0A081B"/>
            </a:solidFill>
            <a:ln w="38128" cap="sq">
              <a:solidFill>
                <a:srgbClr val="16FFBB"/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27750" y="3451517"/>
            <a:ext cx="3790245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✔</a:t>
            </a:r>
            <a:r>
              <a:rPr lang="en-US" sz="2627" b="1" dirty="0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800" dirty="0">
                <a:solidFill>
                  <a:schemeClr val="bg2"/>
                </a:solidFill>
              </a:rPr>
              <a:t>Successful Transcription</a:t>
            </a:r>
            <a:endParaRPr lang="en-US" sz="2627" b="1" dirty="0">
              <a:solidFill>
                <a:schemeClr val="bg2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27750" y="4437574"/>
            <a:ext cx="3790245" cy="1417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400" dirty="0">
                <a:solidFill>
                  <a:schemeClr val="bg2"/>
                </a:solidFill>
              </a:rPr>
              <a:t>Meeting audio was successfully converted into a readable transcript.</a:t>
            </a:r>
            <a:endParaRPr lang="en-US" sz="2401" dirty="0">
              <a:solidFill>
                <a:schemeClr val="bg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5854560" y="3114132"/>
            <a:ext cx="4522289" cy="3267246"/>
            <a:chOff x="0" y="0"/>
            <a:chExt cx="6029719" cy="43563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029706" cy="4356354"/>
            </a:xfrm>
            <a:custGeom>
              <a:avLst/>
              <a:gdLst/>
              <a:ahLst/>
              <a:cxnLst/>
              <a:rect l="l" t="t" r="r" b="b"/>
              <a:pathLst>
                <a:path w="6029706" h="4356354">
                  <a:moveTo>
                    <a:pt x="0" y="624967"/>
                  </a:moveTo>
                  <a:cubicBezTo>
                    <a:pt x="0" y="279781"/>
                    <a:pt x="279781" y="0"/>
                    <a:pt x="624967" y="0"/>
                  </a:cubicBezTo>
                  <a:lnTo>
                    <a:pt x="5404739" y="0"/>
                  </a:lnTo>
                  <a:cubicBezTo>
                    <a:pt x="5749925" y="0"/>
                    <a:pt x="6029706" y="279781"/>
                    <a:pt x="6029706" y="624967"/>
                  </a:cubicBezTo>
                  <a:lnTo>
                    <a:pt x="6029706" y="3731387"/>
                  </a:lnTo>
                  <a:cubicBezTo>
                    <a:pt x="6029706" y="4076573"/>
                    <a:pt x="5749925" y="4356354"/>
                    <a:pt x="5404739" y="4356354"/>
                  </a:cubicBezTo>
                  <a:lnTo>
                    <a:pt x="624967" y="4356354"/>
                  </a:lnTo>
                  <a:cubicBezTo>
                    <a:pt x="279781" y="4356354"/>
                    <a:pt x="0" y="4076446"/>
                    <a:pt x="0" y="3731387"/>
                  </a:cubicBezTo>
                  <a:close/>
                </a:path>
              </a:pathLst>
            </a:custGeom>
            <a:solidFill>
              <a:srgbClr val="0A081B"/>
            </a:solidFill>
            <a:ln w="38128" cap="sq">
              <a:solidFill>
                <a:srgbClr val="29DDDA"/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220511" y="3451517"/>
            <a:ext cx="3790398" cy="2933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✔</a:t>
            </a:r>
            <a:r>
              <a:rPr lang="en-US" sz="2627" b="1" dirty="0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800" dirty="0">
                <a:solidFill>
                  <a:schemeClr val="bg2"/>
                </a:solidFill>
              </a:rPr>
              <a:t>AI-Generated Summary</a:t>
            </a:r>
            <a:endParaRPr lang="en-US" sz="2627" b="1" dirty="0">
              <a:solidFill>
                <a:schemeClr val="bg2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278"/>
              </a:lnSpc>
            </a:pPr>
            <a:endParaRPr lang="en-US" sz="2627" b="1" dirty="0">
              <a:solidFill>
                <a:schemeClr val="bg2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278"/>
              </a:lnSpc>
            </a:pPr>
            <a:r>
              <a:rPr lang="en-US" sz="2800" dirty="0">
                <a:solidFill>
                  <a:schemeClr val="bg2"/>
                </a:solidFill>
              </a:rPr>
              <a:t>The system generated a concise summary based on the transcript.</a:t>
            </a:r>
            <a:endParaRPr lang="en-US" sz="2627" b="1" dirty="0">
              <a:solidFill>
                <a:schemeClr val="bg2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278"/>
              </a:lnSpc>
            </a:pPr>
            <a:endParaRPr lang="en-US" sz="2627" b="1" dirty="0">
              <a:solidFill>
                <a:srgbClr val="E0E4E6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061799" y="6652012"/>
            <a:ext cx="9315050" cy="1849888"/>
            <a:chOff x="0" y="0"/>
            <a:chExt cx="12420067" cy="246651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420092" cy="2466467"/>
            </a:xfrm>
            <a:custGeom>
              <a:avLst/>
              <a:gdLst/>
              <a:ahLst/>
              <a:cxnLst/>
              <a:rect l="l" t="t" r="r" b="b"/>
              <a:pathLst>
                <a:path w="12420092" h="2466467">
                  <a:moveTo>
                    <a:pt x="0" y="630682"/>
                  </a:moveTo>
                  <a:cubicBezTo>
                    <a:pt x="0" y="282321"/>
                    <a:pt x="282321" y="0"/>
                    <a:pt x="630682" y="0"/>
                  </a:cubicBezTo>
                  <a:lnTo>
                    <a:pt x="11789410" y="0"/>
                  </a:lnTo>
                  <a:cubicBezTo>
                    <a:pt x="12137771" y="0"/>
                    <a:pt x="12420092" y="282321"/>
                    <a:pt x="12420092" y="630682"/>
                  </a:cubicBezTo>
                  <a:lnTo>
                    <a:pt x="12420092" y="1835785"/>
                  </a:lnTo>
                  <a:cubicBezTo>
                    <a:pt x="12420092" y="2184146"/>
                    <a:pt x="12137771" y="2466467"/>
                    <a:pt x="11789410" y="2466467"/>
                  </a:cubicBezTo>
                  <a:lnTo>
                    <a:pt x="630682" y="2466467"/>
                  </a:lnTo>
                  <a:cubicBezTo>
                    <a:pt x="282321" y="2466467"/>
                    <a:pt x="0" y="2184146"/>
                    <a:pt x="0" y="1835785"/>
                  </a:cubicBezTo>
                  <a:close/>
                </a:path>
              </a:pathLst>
            </a:custGeom>
            <a:solidFill>
              <a:srgbClr val="0A081B"/>
            </a:solidFill>
            <a:ln w="38128" cap="sq">
              <a:solidFill>
                <a:srgbClr val="37A7E7"/>
              </a:solidFill>
              <a:prstDash val="solid"/>
              <a:miter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427750" y="6989388"/>
            <a:ext cx="8583158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1" dirty="0">
                <a:solidFill>
                  <a:schemeClr val="bg2"/>
                </a:solidFill>
                <a:latin typeface="Arimo Bold"/>
                <a:ea typeface="Arimo Bold"/>
                <a:cs typeface="Arimo Bold"/>
                <a:sym typeface="Arimo Bold"/>
              </a:rPr>
              <a:t>✔ </a:t>
            </a:r>
            <a:r>
              <a:rPr lang="en-US" sz="2800" dirty="0">
                <a:solidFill>
                  <a:schemeClr val="bg2"/>
                </a:solidFill>
              </a:rPr>
              <a:t>Action Item Extraction</a:t>
            </a:r>
            <a:endParaRPr lang="en-US" sz="2627" b="1" dirty="0">
              <a:solidFill>
                <a:schemeClr val="bg2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427750" y="7546496"/>
            <a:ext cx="8583158" cy="442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400" dirty="0">
                <a:solidFill>
                  <a:schemeClr val="bg2"/>
                </a:solidFill>
              </a:rPr>
              <a:t>The system identified tasks and deadlines mentioned in the meeting</a:t>
            </a:r>
            <a:r>
              <a:rPr lang="en-US" sz="2400" dirty="0"/>
              <a:t>.</a:t>
            </a:r>
            <a:endParaRPr lang="en-US" sz="2401" dirty="0">
              <a:solidFill>
                <a:srgbClr val="E0E4E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80859" y="1026557"/>
            <a:ext cx="16140112" cy="694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4128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What's Next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80859" y="2243099"/>
            <a:ext cx="472888" cy="295504"/>
            <a:chOff x="0" y="0"/>
            <a:chExt cx="630517" cy="3940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0517" cy="394008"/>
            </a:xfrm>
            <a:custGeom>
              <a:avLst/>
              <a:gdLst/>
              <a:ahLst/>
              <a:cxnLst/>
              <a:rect l="l" t="t" r="r" b="b"/>
              <a:pathLst>
                <a:path w="630517" h="394008">
                  <a:moveTo>
                    <a:pt x="0" y="0"/>
                  </a:moveTo>
                  <a:lnTo>
                    <a:pt x="630517" y="0"/>
                  </a:lnTo>
                  <a:lnTo>
                    <a:pt x="630517" y="394008"/>
                  </a:lnTo>
                  <a:lnTo>
                    <a:pt x="0" y="3940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75" r="-30175"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630517" cy="413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E0E4E6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80859" y="2616213"/>
            <a:ext cx="5274145" cy="28594"/>
            <a:chOff x="0" y="0"/>
            <a:chExt cx="7032193" cy="381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032244" cy="38100"/>
            </a:xfrm>
            <a:custGeom>
              <a:avLst/>
              <a:gdLst/>
              <a:ahLst/>
              <a:cxnLst/>
              <a:rect l="l" t="t" r="r" b="b"/>
              <a:pathLst>
                <a:path w="7032244" h="38100">
                  <a:moveTo>
                    <a:pt x="0" y="0"/>
                  </a:moveTo>
                  <a:lnTo>
                    <a:pt x="7032244" y="0"/>
                  </a:lnTo>
                  <a:lnTo>
                    <a:pt x="703224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FFBB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80859" y="2772470"/>
            <a:ext cx="5274145" cy="347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Speaker Identification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80859" y="3253283"/>
            <a:ext cx="5274145" cy="715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80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Label each transcript line by speaker name automatically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80859" y="4327284"/>
            <a:ext cx="472888" cy="295504"/>
            <a:chOff x="0" y="0"/>
            <a:chExt cx="630517" cy="39400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0517" cy="394008"/>
            </a:xfrm>
            <a:custGeom>
              <a:avLst/>
              <a:gdLst/>
              <a:ahLst/>
              <a:cxnLst/>
              <a:rect l="l" t="t" r="r" b="b"/>
              <a:pathLst>
                <a:path w="630517" h="394008">
                  <a:moveTo>
                    <a:pt x="0" y="0"/>
                  </a:moveTo>
                  <a:lnTo>
                    <a:pt x="630517" y="0"/>
                  </a:lnTo>
                  <a:lnTo>
                    <a:pt x="630517" y="394008"/>
                  </a:lnTo>
                  <a:lnTo>
                    <a:pt x="0" y="3940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75" r="-30175"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630517" cy="413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E0E4E6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80859" y="4700387"/>
            <a:ext cx="5274145" cy="28594"/>
            <a:chOff x="0" y="0"/>
            <a:chExt cx="7032193" cy="3812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032244" cy="38100"/>
            </a:xfrm>
            <a:custGeom>
              <a:avLst/>
              <a:gdLst/>
              <a:ahLst/>
              <a:cxnLst/>
              <a:rect l="l" t="t" r="r" b="b"/>
              <a:pathLst>
                <a:path w="7032244" h="38100">
                  <a:moveTo>
                    <a:pt x="0" y="0"/>
                  </a:moveTo>
                  <a:lnTo>
                    <a:pt x="7032244" y="0"/>
                  </a:lnTo>
                  <a:lnTo>
                    <a:pt x="703224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9DDDA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80859" y="4856645"/>
            <a:ext cx="5274145" cy="347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Export Options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0859" y="5337467"/>
            <a:ext cx="5274145" cy="715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80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Download minutes as PDF, Markdown, or integrate with Notion and Slack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80859" y="6411468"/>
            <a:ext cx="472888" cy="295504"/>
            <a:chOff x="0" y="0"/>
            <a:chExt cx="630517" cy="39400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0517" cy="394008"/>
            </a:xfrm>
            <a:custGeom>
              <a:avLst/>
              <a:gdLst/>
              <a:ahLst/>
              <a:cxnLst/>
              <a:rect l="l" t="t" r="r" b="b"/>
              <a:pathLst>
                <a:path w="630517" h="394008">
                  <a:moveTo>
                    <a:pt x="0" y="0"/>
                  </a:moveTo>
                  <a:lnTo>
                    <a:pt x="630517" y="0"/>
                  </a:lnTo>
                  <a:lnTo>
                    <a:pt x="630517" y="394008"/>
                  </a:lnTo>
                  <a:lnTo>
                    <a:pt x="0" y="3940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75" r="-30175"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630517" cy="413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E0E4E6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80859" y="6784572"/>
            <a:ext cx="5274145" cy="28594"/>
            <a:chOff x="0" y="0"/>
            <a:chExt cx="7032193" cy="3812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32244" cy="38100"/>
            </a:xfrm>
            <a:custGeom>
              <a:avLst/>
              <a:gdLst/>
              <a:ahLst/>
              <a:cxnLst/>
              <a:rect l="l" t="t" r="r" b="b"/>
              <a:pathLst>
                <a:path w="7032244" h="38100">
                  <a:moveTo>
                    <a:pt x="0" y="0"/>
                  </a:moveTo>
                  <a:lnTo>
                    <a:pt x="7032244" y="0"/>
                  </a:lnTo>
                  <a:lnTo>
                    <a:pt x="703224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7A7E7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80859" y="6940829"/>
            <a:ext cx="5274145" cy="347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Real-Time Processing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80859" y="7421642"/>
            <a:ext cx="5274145" cy="381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80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Generate minutes live during the meeting, not after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6941239" y="2196636"/>
            <a:ext cx="10289124" cy="5830576"/>
            <a:chOff x="0" y="0"/>
            <a:chExt cx="13718832" cy="7774102"/>
          </a:xfrm>
        </p:grpSpPr>
        <p:sp>
          <p:nvSpPr>
            <p:cNvPr id="29" name="Freeform 29" descr="preencoded.png"/>
            <p:cNvSpPr/>
            <p:nvPr/>
          </p:nvSpPr>
          <p:spPr>
            <a:xfrm>
              <a:off x="0" y="0"/>
              <a:ext cx="13718794" cy="7774051"/>
            </a:xfrm>
            <a:custGeom>
              <a:avLst/>
              <a:gdLst/>
              <a:ahLst/>
              <a:cxnLst/>
              <a:rect l="l" t="t" r="r" b="b"/>
              <a:pathLst>
                <a:path w="13718794" h="7774051">
                  <a:moveTo>
                    <a:pt x="0" y="0"/>
                  </a:moveTo>
                  <a:lnTo>
                    <a:pt x="13718794" y="0"/>
                  </a:lnTo>
                  <a:lnTo>
                    <a:pt x="13718794" y="7774051"/>
                  </a:lnTo>
                  <a:lnTo>
                    <a:pt x="0" y="7774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80859" y="8434426"/>
            <a:ext cx="16140112" cy="795814"/>
            <a:chOff x="0" y="0"/>
            <a:chExt cx="21520150" cy="106108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520150" cy="1061212"/>
            </a:xfrm>
            <a:custGeom>
              <a:avLst/>
              <a:gdLst/>
              <a:ahLst/>
              <a:cxnLst/>
              <a:rect l="l" t="t" r="r" b="b"/>
              <a:pathLst>
                <a:path w="21520150" h="1061212">
                  <a:moveTo>
                    <a:pt x="0" y="472948"/>
                  </a:moveTo>
                  <a:cubicBezTo>
                    <a:pt x="0" y="211709"/>
                    <a:pt x="211709" y="0"/>
                    <a:pt x="472948" y="0"/>
                  </a:cubicBezTo>
                  <a:lnTo>
                    <a:pt x="21047202" y="0"/>
                  </a:lnTo>
                  <a:cubicBezTo>
                    <a:pt x="21308440" y="0"/>
                    <a:pt x="21520150" y="211709"/>
                    <a:pt x="21520150" y="472948"/>
                  </a:cubicBezTo>
                  <a:lnTo>
                    <a:pt x="21520150" y="588264"/>
                  </a:lnTo>
                  <a:cubicBezTo>
                    <a:pt x="21520150" y="849503"/>
                    <a:pt x="21308442" y="1061212"/>
                    <a:pt x="21047202" y="1061212"/>
                  </a:cubicBezTo>
                  <a:lnTo>
                    <a:pt x="472948" y="1061212"/>
                  </a:lnTo>
                  <a:cubicBezTo>
                    <a:pt x="211709" y="1061085"/>
                    <a:pt x="0" y="849376"/>
                    <a:pt x="0" y="588137"/>
                  </a:cubicBezTo>
                  <a:close/>
                </a:path>
              </a:pathLst>
            </a:custGeom>
            <a:solidFill>
              <a:srgbClr val="00805A"/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17231" y="8696277"/>
            <a:ext cx="295494" cy="236372"/>
            <a:chOff x="0" y="0"/>
            <a:chExt cx="393992" cy="315163"/>
          </a:xfrm>
        </p:grpSpPr>
        <p:sp>
          <p:nvSpPr>
            <p:cNvPr id="33" name="Freeform 33" descr="preencoded.png"/>
            <p:cNvSpPr/>
            <p:nvPr/>
          </p:nvSpPr>
          <p:spPr>
            <a:xfrm>
              <a:off x="0" y="0"/>
              <a:ext cx="393954" cy="315214"/>
            </a:xfrm>
            <a:custGeom>
              <a:avLst/>
              <a:gdLst/>
              <a:ahLst/>
              <a:cxnLst/>
              <a:rect l="l" t="t" r="r" b="b"/>
              <a:pathLst>
                <a:path w="393954" h="315214">
                  <a:moveTo>
                    <a:pt x="0" y="0"/>
                  </a:moveTo>
                  <a:lnTo>
                    <a:pt x="393954" y="0"/>
                  </a:lnTo>
                  <a:lnTo>
                    <a:pt x="393954" y="315214"/>
                  </a:lnTo>
                  <a:lnTo>
                    <a:pt x="0" y="315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06" r="-9" b="-394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849098" y="8626754"/>
            <a:ext cx="16050597" cy="381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801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Thanks for watching!</a:t>
            </a:r>
            <a:r>
              <a:rPr lang="en-US" sz="180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Questions? Let's chat about the demo or the tech behind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499</Words>
  <Application>Microsoft Office PowerPoint</Application>
  <PresentationFormat>Custom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Arimo Bold</vt:lpstr>
      <vt:lpstr>Barlow</vt:lpstr>
      <vt:lpstr>Arial</vt:lpstr>
      <vt:lpstr>Arimo</vt:lpstr>
      <vt:lpstr>Barlow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AI-Meeting-Minutes-Generator).pptx</dc:title>
  <dc:creator>GBINFO</dc:creator>
  <cp:lastModifiedBy>Shangkari Maniyarasu</cp:lastModifiedBy>
  <cp:revision>6</cp:revision>
  <dcterms:created xsi:type="dcterms:W3CDTF">2006-08-16T00:00:00Z</dcterms:created>
  <dcterms:modified xsi:type="dcterms:W3CDTF">2026-09-11T06:47:20Z</dcterms:modified>
  <dc:identifier>DAHUJoD1h64</dc:identifier>
</cp:coreProperties>
</file>